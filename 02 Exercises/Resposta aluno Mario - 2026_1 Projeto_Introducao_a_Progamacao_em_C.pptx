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2"/>
  </p:notesMasterIdLst>
  <p:sldIdLst>
    <p:sldId id="256" r:id="rId5"/>
    <p:sldId id="1448944847" r:id="rId6"/>
    <p:sldId id="1448944854" r:id="rId7"/>
    <p:sldId id="1448944853" r:id="rId8"/>
    <p:sldId id="1448944851" r:id="rId9"/>
    <p:sldId id="1448944855" r:id="rId10"/>
    <p:sldId id="259" r:id="rId11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005B"/>
    <a:srgbClr val="FF2A00"/>
    <a:srgbClr val="B4FC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87" d="100"/>
          <a:sy n="87" d="100"/>
        </p:scale>
        <p:origin x="930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5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0" name="Shape 11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8096089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B72BE2E5-C53B-4115-9A54-D8BA6D9E1998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92FBB75D-85BB-43BF-A75C-9700D9C721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93532" y="2932934"/>
            <a:ext cx="3750468" cy="2248816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2AD26EA1-9748-44E3-B232-07330DFDB2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5303" y="525796"/>
            <a:ext cx="3792000" cy="180000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>
            <a:extLst>
              <a:ext uri="{FF2B5EF4-FFF2-40B4-BE49-F238E27FC236}">
                <a16:creationId xmlns:a16="http://schemas.microsoft.com/office/drawing/2014/main" id="{1697169F-C56B-4189-A307-A2853A306BC5}"/>
              </a:ext>
            </a:extLst>
          </p:cNvPr>
          <p:cNvSpPr/>
          <p:nvPr userDrawn="1"/>
        </p:nvSpPr>
        <p:spPr>
          <a:xfrm>
            <a:off x="0" y="-38250"/>
            <a:ext cx="9144000" cy="5220000"/>
          </a:xfrm>
          <a:prstGeom prst="rect">
            <a:avLst/>
          </a:prstGeom>
          <a:solidFill>
            <a:srgbClr val="002C2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C0A207C0-B955-4401-AF12-CF53242709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" y="-144575"/>
            <a:ext cx="4657059" cy="2792417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45798619-212D-4D1E-81CE-D5B296300E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11307" y="4216938"/>
            <a:ext cx="1896000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863095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>
            <a:extLst>
              <a:ext uri="{FF2B5EF4-FFF2-40B4-BE49-F238E27FC236}">
                <a16:creationId xmlns:a16="http://schemas.microsoft.com/office/drawing/2014/main" id="{BD69EDC2-B707-4557-B0E8-CC7659A79FAE}"/>
              </a:ext>
            </a:extLst>
          </p:cNvPr>
          <p:cNvSpPr/>
          <p:nvPr userDrawn="1"/>
        </p:nvSpPr>
        <p:spPr>
          <a:xfrm>
            <a:off x="0" y="-56250"/>
            <a:ext cx="9144000" cy="52560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F1D5B860-F608-404D-A6E3-55CFD790873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76000" y="1671750"/>
            <a:ext cx="3792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25872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do Título"/>
          <p:cNvSpPr txBox="1">
            <a:spLocks noGrp="1"/>
          </p:cNvSpPr>
          <p:nvPr>
            <p:ph type="title"/>
          </p:nvPr>
        </p:nvSpPr>
        <p:spPr>
          <a:xfrm>
            <a:off x="392388" y="1597822"/>
            <a:ext cx="7551149" cy="1102520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12" name="Nível de Corpo Um…"/>
          <p:cNvSpPr txBox="1">
            <a:spLocks noGrp="1"/>
          </p:cNvSpPr>
          <p:nvPr>
            <p:ph type="body" sz="quarter" idx="1"/>
          </p:nvPr>
        </p:nvSpPr>
        <p:spPr>
          <a:xfrm>
            <a:off x="1058665" y="2914650"/>
            <a:ext cx="6218594" cy="131445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82CD95A-A8A7-4A28-A57B-5AFF58CAE495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D12BF48C-4100-432C-A72C-2CA72BFD98D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33917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o do Título"/>
          <p:cNvSpPr txBox="1">
            <a:spLocks noGrp="1"/>
          </p:cNvSpPr>
          <p:nvPr>
            <p:ph type="title"/>
          </p:nvPr>
        </p:nvSpPr>
        <p:spPr>
          <a:xfrm>
            <a:off x="392388" y="3305176"/>
            <a:ext cx="7551149" cy="1021557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Texto do Título</a:t>
            </a:r>
          </a:p>
        </p:txBody>
      </p:sp>
      <p:sp>
        <p:nvSpPr>
          <p:cNvPr id="30" name="Nível de Corpo Um…"/>
          <p:cNvSpPr txBox="1">
            <a:spLocks noGrp="1"/>
          </p:cNvSpPr>
          <p:nvPr>
            <p:ph type="body" sz="quarter" idx="1"/>
          </p:nvPr>
        </p:nvSpPr>
        <p:spPr>
          <a:xfrm>
            <a:off x="392388" y="2180034"/>
            <a:ext cx="7551149" cy="1125141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79B2584-D82A-434C-907E-5AD4708B4A5F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0BA4A514-A3EF-435D-BF62-1B393584864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o do Título"/>
          <p:cNvSpPr txBox="1">
            <a:spLocks noGrp="1"/>
          </p:cNvSpPr>
          <p:nvPr>
            <p:ph type="title"/>
          </p:nvPr>
        </p:nvSpPr>
        <p:spPr>
          <a:xfrm>
            <a:off x="392388" y="377427"/>
            <a:ext cx="7551149" cy="857251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39" name="Nível de Corpo Um…"/>
          <p:cNvSpPr txBox="1">
            <a:spLocks noGrp="1"/>
          </p:cNvSpPr>
          <p:nvPr>
            <p:ph type="body" sz="half" idx="1"/>
          </p:nvPr>
        </p:nvSpPr>
        <p:spPr>
          <a:xfrm>
            <a:off x="457200" y="1371599"/>
            <a:ext cx="3718112" cy="339447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8A7463F-7713-42EA-8A15-BDA2961FCD24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07CC0238-F9AC-4816-B8CD-E40135A634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305743" y="1371599"/>
            <a:ext cx="3637794" cy="47982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 dirty="0"/>
          </a:p>
        </p:txBody>
      </p:sp>
      <p:sp>
        <p:nvSpPr>
          <p:cNvPr id="13" name="Texto do Título">
            <a:extLst>
              <a:ext uri="{FF2B5EF4-FFF2-40B4-BE49-F238E27FC236}">
                <a16:creationId xmlns:a16="http://schemas.microsoft.com/office/drawing/2014/main" id="{71A1DC59-F919-49D7-93AC-7F97FA4481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2388" y="377427"/>
            <a:ext cx="7551149" cy="857251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14" name="Nível de Corpo Um…">
            <a:extLst>
              <a:ext uri="{FF2B5EF4-FFF2-40B4-BE49-F238E27FC236}">
                <a16:creationId xmlns:a16="http://schemas.microsoft.com/office/drawing/2014/main" id="{DAE5C6F0-0EB8-4E38-B508-92B4D1C0536A}"/>
              </a:ext>
            </a:extLst>
          </p:cNvPr>
          <p:cNvSpPr txBox="1">
            <a:spLocks noGrp="1"/>
          </p:cNvSpPr>
          <p:nvPr>
            <p:ph type="body" sz="half" idx="1"/>
          </p:nvPr>
        </p:nvSpPr>
        <p:spPr>
          <a:xfrm>
            <a:off x="457200" y="1371599"/>
            <a:ext cx="3718112" cy="339447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B1D7A5D-A48A-4407-AC8A-A2B933367683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CE9DF7DC-3AC6-4ACF-B842-7129C43146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478FD593-B78A-44C8-9101-48A080424BD4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00C5646E-5BBA-42C0-BB13-DF961E3AF32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o do Título"/>
          <p:cNvSpPr txBox="1">
            <a:spLocks noGrp="1"/>
          </p:cNvSpPr>
          <p:nvPr>
            <p:ph type="title"/>
          </p:nvPr>
        </p:nvSpPr>
        <p:spPr>
          <a:xfrm>
            <a:off x="392388" y="379912"/>
            <a:ext cx="3008315" cy="871539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73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3575050" y="379915"/>
            <a:ext cx="4368487" cy="4389836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half" idx="13"/>
          </p:nvPr>
        </p:nvSpPr>
        <p:spPr>
          <a:xfrm>
            <a:off x="392388" y="1251454"/>
            <a:ext cx="3008315" cy="3518297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F88ECC2-470E-4E41-8255-6900EE08FF82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007629A3-E5F3-4232-AC3E-7E773C88E96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o do Título"/>
          <p:cNvSpPr txBox="1">
            <a:spLocks noGrp="1"/>
          </p:cNvSpPr>
          <p:nvPr>
            <p:ph type="title"/>
          </p:nvPr>
        </p:nvSpPr>
        <p:spPr>
          <a:xfrm>
            <a:off x="1424762" y="3599015"/>
            <a:ext cx="5486401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1424762" y="377427"/>
            <a:ext cx="5486401" cy="30861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Nível de Corpo Um…"/>
          <p:cNvSpPr txBox="1">
            <a:spLocks noGrp="1"/>
          </p:cNvSpPr>
          <p:nvPr>
            <p:ph type="body" sz="quarter" idx="1"/>
          </p:nvPr>
        </p:nvSpPr>
        <p:spPr>
          <a:xfrm>
            <a:off x="1424762" y="4159556"/>
            <a:ext cx="5486401" cy="60364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F2456B8-1030-4813-B77D-CFBEB0573812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107B511C-2EB3-40D0-BCAC-2B9DB5137B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o do Título"/>
          <p:cNvSpPr txBox="1">
            <a:spLocks noGrp="1"/>
          </p:cNvSpPr>
          <p:nvPr>
            <p:ph type="title"/>
          </p:nvPr>
        </p:nvSpPr>
        <p:spPr>
          <a:xfrm>
            <a:off x="392388" y="205978"/>
            <a:ext cx="7551149" cy="857251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93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392388" y="1200150"/>
            <a:ext cx="7551149" cy="3394473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6EBB230-F7F9-40F8-A09E-9AB050F119BB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F0E84E17-BDC1-41DD-97A2-C32AFF1C41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o do Título"/>
          <p:cNvSpPr txBox="1">
            <a:spLocks noGrp="1"/>
          </p:cNvSpPr>
          <p:nvPr>
            <p:ph type="title"/>
          </p:nvPr>
        </p:nvSpPr>
        <p:spPr>
          <a:xfrm>
            <a:off x="6082331" y="377426"/>
            <a:ext cx="1797645" cy="4388645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102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392388" y="377426"/>
            <a:ext cx="5517594" cy="4388645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440BD70-AE55-46A6-B9E1-7E6B4A3E2597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C3AB3B02-E76C-4FAB-AD1B-354C5F1CDE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o Título"/>
          <p:cNvSpPr txBox="1">
            <a:spLocks noGrp="1"/>
          </p:cNvSpPr>
          <p:nvPr>
            <p:ph type="title"/>
          </p:nvPr>
        </p:nvSpPr>
        <p:spPr>
          <a:xfrm>
            <a:off x="457200" y="377427"/>
            <a:ext cx="8229600" cy="857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3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457200" y="1371599"/>
            <a:ext cx="8229600" cy="3394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2" r:id="rId3"/>
    <p:sldLayoutId id="2147483660" r:id="rId4"/>
    <p:sldLayoutId id="2147483651" r:id="rId5"/>
    <p:sldLayoutId id="2147483652" r:id="rId6"/>
    <p:sldLayoutId id="2147483653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BCB13E4-4A11-48C5-A5A3-7FAB1396ADAB}"/>
              </a:ext>
            </a:extLst>
          </p:cNvPr>
          <p:cNvSpPr txBox="1">
            <a:spLocks/>
          </p:cNvSpPr>
          <p:nvPr/>
        </p:nvSpPr>
        <p:spPr>
          <a:xfrm>
            <a:off x="442913" y="2559082"/>
            <a:ext cx="5819664" cy="722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ctr">
            <a:normAutofit fontScale="62500" lnSpcReduction="20000"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l" defTabSz="265175" hangingPunct="1">
              <a:defRPr sz="2262">
                <a:solidFill>
                  <a:srgbClr val="FFFFFF"/>
                </a:solidFill>
              </a:defRPr>
            </a:pPr>
            <a:r>
              <a:rPr lang="pt-BR" sz="4000" b="1" dirty="0">
                <a:solidFill>
                  <a:schemeClr val="bg1"/>
                </a:solidFill>
              </a:rPr>
              <a:t>INDRODUÇÃO A PROGRAMAÇÃO EM  C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974EFB-1823-854F-EADA-689E053E3A06}"/>
              </a:ext>
            </a:extLst>
          </p:cNvPr>
          <p:cNvSpPr txBox="1">
            <a:spLocks/>
          </p:cNvSpPr>
          <p:nvPr/>
        </p:nvSpPr>
        <p:spPr>
          <a:xfrm>
            <a:off x="435819" y="3508916"/>
            <a:ext cx="7729985" cy="722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l" defTabSz="265175" hangingPunct="1">
              <a:defRPr sz="2262">
                <a:solidFill>
                  <a:srgbClr val="FFFFFF"/>
                </a:solidFill>
              </a:defRPr>
            </a:pPr>
            <a:r>
              <a:rPr lang="pt-BR" sz="3200" b="1" dirty="0">
                <a:solidFill>
                  <a:schemeClr val="bg1"/>
                </a:solidFill>
              </a:rPr>
              <a:t>Palestrante: Mairo Souza da Cruz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4CF770C-2ECC-EF68-03A1-241E443FEDD9}"/>
              </a:ext>
            </a:extLst>
          </p:cNvPr>
          <p:cNvSpPr txBox="1">
            <a:spLocks/>
          </p:cNvSpPr>
          <p:nvPr/>
        </p:nvSpPr>
        <p:spPr>
          <a:xfrm>
            <a:off x="6262577" y="1609248"/>
            <a:ext cx="2450822" cy="722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l" defTabSz="265175" hangingPunct="1">
              <a:defRPr sz="2262">
                <a:solidFill>
                  <a:srgbClr val="FFFFFF"/>
                </a:solidFill>
              </a:defRPr>
            </a:pPr>
            <a:r>
              <a:rPr lang="pt-BR" sz="4000" b="1" dirty="0">
                <a:solidFill>
                  <a:schemeClr val="bg1"/>
                </a:solidFill>
              </a:rPr>
              <a:t>Seminário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3DF4DE9F-E280-4DD5-A63B-3C136B01E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947" y="123260"/>
            <a:ext cx="4866887" cy="942000"/>
          </a:xfrm>
          <a:prstGeom prst="flowChartDocument">
            <a:avLst/>
          </a:prstGeom>
          <a:solidFill>
            <a:srgbClr val="F00E3E"/>
          </a:solidFill>
        </p:spPr>
        <p:txBody>
          <a:bodyPr>
            <a:normAutofit fontScale="90000"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INTRODUÇÃO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F71621B-35DD-2037-5AD8-2B842FC9D166}"/>
              </a:ext>
            </a:extLst>
          </p:cNvPr>
          <p:cNvSpPr txBox="1"/>
          <p:nvPr/>
        </p:nvSpPr>
        <p:spPr>
          <a:xfrm>
            <a:off x="1471796" y="947450"/>
            <a:ext cx="4951038" cy="34470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br>
              <a:rPr lang="pt-BR" sz="1400" dirty="0">
                <a:solidFill>
                  <a:schemeClr val="tx1"/>
                </a:solidFill>
                <a:latin typeface="Abadi" panose="020B0604020104020204" pitchFamily="34" charset="0"/>
              </a:rPr>
            </a:br>
            <a:r>
              <a:rPr lang="pt-BR" sz="1400" dirty="0">
                <a:solidFill>
                  <a:schemeClr val="tx1"/>
                </a:solidFill>
                <a:latin typeface="Abadi" panose="020B0604020104020204" pitchFamily="34" charset="0"/>
              </a:rPr>
              <a:t>será apresentado um sistema simples de cadastro de carros desenvolvido na linguagem C. O objetivo do programa é permitir o armazenamento e gerenciamento de informações relacionadas a veículos e seus proprietários.</a:t>
            </a:r>
          </a:p>
          <a:p>
            <a:r>
              <a:rPr lang="pt-BR" sz="1400" dirty="0">
                <a:solidFill>
                  <a:schemeClr val="tx1"/>
                </a:solidFill>
                <a:latin typeface="Abadi" panose="020B0604020104020204" pitchFamily="34" charset="0"/>
              </a:rPr>
              <a:t>O sistema utiliza conceitos fundamentais da programação, como estruturas de dados, vetores, laços de repetição e tomada de decisão. Além disso, permite ao usuário interagir por meio de um menu com diferentes opções, como cadastrar, consultar e editar informações.</a:t>
            </a:r>
          </a:p>
          <a:p>
            <a:r>
              <a:rPr lang="pt-BR" sz="1400" dirty="0">
                <a:solidFill>
                  <a:schemeClr val="tx1"/>
                </a:solidFill>
                <a:latin typeface="Abadi" panose="020B0604020104020204" pitchFamily="34" charset="0"/>
              </a:rPr>
              <a:t>Esse tipo de aplicação é muito importante, pois representa a base de sistemas maiores utilizados em empresas, estacionamentos e órgãos de trânsito.</a:t>
            </a:r>
          </a:p>
          <a:p>
            <a:endParaRPr lang="pt-BR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24422747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BE951C9-4DFB-4DD6-974B-CE46B0C98CAB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1057619" y="1101725"/>
            <a:ext cx="6241673" cy="3226565"/>
          </a:xfrm>
        </p:spPr>
        <p:txBody>
          <a:bodyPr>
            <a:noAutofit/>
          </a:bodyPr>
          <a:lstStyle/>
          <a:p>
            <a:pPr algn="l"/>
            <a:r>
              <a:rPr lang="pt-BR" sz="1200" b="1" dirty="0">
                <a:solidFill>
                  <a:schemeClr val="tx1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O programa foi desenvolvido utilizando a linguagem C e possui uma estrutura principal chamada Cadastro, que armazena os dados de cada carro. Essa estrutura contém os seguintes campos:</a:t>
            </a:r>
          </a:p>
          <a:p>
            <a:pPr algn="l"/>
            <a:r>
              <a:rPr lang="pt-BR" sz="1200" b="1" dirty="0">
                <a:solidFill>
                  <a:schemeClr val="tx1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Nome do proprietário</a:t>
            </a:r>
          </a:p>
          <a:p>
            <a:pPr algn="l"/>
            <a:r>
              <a:rPr lang="pt-BR" sz="1200" b="1" dirty="0">
                <a:solidFill>
                  <a:schemeClr val="tx1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RG</a:t>
            </a:r>
          </a:p>
          <a:p>
            <a:pPr algn="l"/>
            <a:r>
              <a:rPr lang="pt-BR" sz="1200" b="1" dirty="0">
                <a:solidFill>
                  <a:schemeClr val="tx1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Placa do carro</a:t>
            </a:r>
          </a:p>
          <a:p>
            <a:pPr algn="l"/>
            <a:r>
              <a:rPr lang="pt-BR" sz="1200" b="1" dirty="0">
                <a:solidFill>
                  <a:schemeClr val="tx1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Modelo do veículo</a:t>
            </a:r>
          </a:p>
          <a:p>
            <a:pPr algn="l"/>
            <a:r>
              <a:rPr lang="pt-BR" sz="1200" b="1" dirty="0">
                <a:solidFill>
                  <a:schemeClr val="tx1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Esses dados são armazenados em um vetor que pode guardar até 100 registros.</a:t>
            </a:r>
          </a:p>
          <a:p>
            <a:pPr algn="l"/>
            <a:r>
              <a:rPr lang="pt-BR" sz="1200" b="1" dirty="0">
                <a:solidFill>
                  <a:schemeClr val="tx1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O funcionamento do sistema é baseado em um menu interativo com quatro opções principais:</a:t>
            </a:r>
          </a:p>
          <a:p>
            <a:pPr algn="l"/>
            <a:endParaRPr lang="pt-BR" sz="1600" b="1" dirty="0">
              <a:latin typeface="Abadi" panose="020B060402010402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7408DA95-22DC-E735-6CB2-AECF2C5A9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962" y="0"/>
            <a:ext cx="7551737" cy="1101725"/>
          </a:xfrm>
          <a:prstGeom prst="flowChartDocument">
            <a:avLst/>
          </a:prstGeom>
          <a:solidFill>
            <a:srgbClr val="F00E3E"/>
          </a:solidFill>
        </p:spPr>
        <p:txBody>
          <a:bodyPr>
            <a:norm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Desenvolvimento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7063524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2DFC33E-02DB-B29A-2334-70FB456004B5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1036631" y="110169"/>
            <a:ext cx="6218594" cy="4902506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>
            <a:normAutofit fontScale="32500" lnSpcReduction="20000"/>
          </a:bodyPr>
          <a:lstStyle/>
          <a:p>
            <a:pPr algn="l"/>
            <a:r>
              <a:rPr lang="pt-BR" sz="3700" b="1" dirty="0"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1 - </a:t>
            </a:r>
            <a:r>
              <a:rPr lang="pt-BR" sz="3700" b="1" dirty="0">
                <a:solidFill>
                  <a:schemeClr val="tx1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Cadastrar</a:t>
            </a:r>
            <a:br>
              <a:rPr lang="pt-BR" sz="3700" b="1" dirty="0">
                <a:solidFill>
                  <a:schemeClr val="tx1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pt-BR" sz="3700" b="1" dirty="0">
                <a:solidFill>
                  <a:schemeClr val="tx1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Permite inserir um novo carro no sistema. O programa solicita ao usuário os dados necessários e armazena no vetor. Existe um limite de 100 cadastros, garantindo controle de memória.</a:t>
            </a:r>
          </a:p>
          <a:p>
            <a:pPr algn="l"/>
            <a:r>
              <a:rPr lang="pt-BR" sz="3700" b="1" dirty="0">
                <a:solidFill>
                  <a:schemeClr val="tx1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2 - Consultar</a:t>
            </a:r>
            <a:br>
              <a:rPr lang="pt-BR" sz="3700" b="1" dirty="0">
                <a:solidFill>
                  <a:schemeClr val="tx1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pt-BR" sz="3700" b="1" dirty="0">
                <a:solidFill>
                  <a:schemeClr val="tx1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O usuário pode buscar um carro pela placa. O programa percorre todos os registros utilizando um laço de repetição e compara as placas com a função </a:t>
            </a:r>
            <a:r>
              <a:rPr lang="pt-BR" sz="3700" b="1" dirty="0" err="1">
                <a:solidFill>
                  <a:schemeClr val="tx1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strcmp</a:t>
            </a:r>
            <a:r>
              <a:rPr lang="pt-BR" sz="3700" b="1" dirty="0">
                <a:solidFill>
                  <a:schemeClr val="tx1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. Se encontrar, exibe os dados do proprietário e do veículo.</a:t>
            </a:r>
          </a:p>
          <a:p>
            <a:pPr algn="l"/>
            <a:r>
              <a:rPr lang="pt-BR" sz="3700" b="1" dirty="0">
                <a:solidFill>
                  <a:schemeClr val="tx1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3 - Editar</a:t>
            </a:r>
            <a:br>
              <a:rPr lang="pt-BR" sz="3700" b="1" dirty="0">
                <a:solidFill>
                  <a:schemeClr val="tx1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pt-BR" sz="3700" b="1" dirty="0">
                <a:solidFill>
                  <a:schemeClr val="tx1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Permite alterar os dados de um carro já cadastrado. A busca também é feita pela placa, e, se encontrada, o usuário pode atualizar todas as informações.</a:t>
            </a:r>
          </a:p>
          <a:p>
            <a:pPr algn="l"/>
            <a:r>
              <a:rPr lang="pt-BR" sz="3700" b="1" dirty="0">
                <a:solidFill>
                  <a:schemeClr val="tx1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4 - Sair</a:t>
            </a:r>
            <a:br>
              <a:rPr lang="pt-BR" sz="3700" b="1" dirty="0">
                <a:solidFill>
                  <a:schemeClr val="tx1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pt-BR" sz="3700" b="1" dirty="0">
                <a:solidFill>
                  <a:schemeClr val="tx1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Finaliza o programa.</a:t>
            </a:r>
          </a:p>
          <a:p>
            <a:pPr algn="l"/>
            <a:r>
              <a:rPr lang="pt-BR" sz="3700" b="1" dirty="0">
                <a:solidFill>
                  <a:schemeClr val="tx1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O sistema utiliza:</a:t>
            </a:r>
          </a:p>
          <a:p>
            <a:pPr algn="l"/>
            <a:r>
              <a:rPr lang="pt-BR" sz="3700" b="1" dirty="0">
                <a:solidFill>
                  <a:schemeClr val="tx1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Laço do-</a:t>
            </a:r>
            <a:r>
              <a:rPr lang="pt-BR" sz="3700" b="1" dirty="0" err="1">
                <a:solidFill>
                  <a:schemeClr val="tx1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while</a:t>
            </a:r>
            <a:r>
              <a:rPr lang="pt-BR" sz="3700" b="1" dirty="0">
                <a:solidFill>
                  <a:schemeClr val="tx1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 para manter o menu em execução</a:t>
            </a:r>
          </a:p>
          <a:p>
            <a:pPr algn="l"/>
            <a:r>
              <a:rPr lang="pt-BR" sz="3700" b="1" dirty="0">
                <a:solidFill>
                  <a:schemeClr val="tx1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Condicionais </a:t>
            </a:r>
            <a:r>
              <a:rPr lang="pt-BR" sz="3700" b="1" dirty="0" err="1">
                <a:solidFill>
                  <a:schemeClr val="tx1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if</a:t>
            </a:r>
            <a:r>
              <a:rPr lang="pt-BR" sz="3700" b="1" dirty="0">
                <a:solidFill>
                  <a:schemeClr val="tx1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/</a:t>
            </a:r>
            <a:r>
              <a:rPr lang="pt-BR" sz="3700" b="1" dirty="0" err="1">
                <a:solidFill>
                  <a:schemeClr val="tx1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else</a:t>
            </a:r>
            <a:r>
              <a:rPr lang="pt-BR" sz="3700" b="1" dirty="0">
                <a:solidFill>
                  <a:schemeClr val="tx1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 para controlar as opções</a:t>
            </a:r>
          </a:p>
          <a:p>
            <a:pPr algn="l"/>
            <a:r>
              <a:rPr lang="pt-BR" sz="3700" b="1" dirty="0">
                <a:solidFill>
                  <a:schemeClr val="tx1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Função </a:t>
            </a:r>
            <a:r>
              <a:rPr lang="pt-BR" sz="3700" b="1" dirty="0" err="1">
                <a:solidFill>
                  <a:schemeClr val="tx1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strcmp</a:t>
            </a:r>
            <a:r>
              <a:rPr lang="pt-BR" sz="3700" b="1" dirty="0">
                <a:solidFill>
                  <a:schemeClr val="tx1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 para comparar textos</a:t>
            </a:r>
          </a:p>
          <a:p>
            <a:pPr algn="l"/>
            <a:r>
              <a:rPr lang="pt-BR" sz="3700" b="1" dirty="0">
                <a:solidFill>
                  <a:schemeClr val="tx1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Função </a:t>
            </a:r>
            <a:r>
              <a:rPr lang="pt-BR" sz="3700" b="1" dirty="0" err="1">
                <a:solidFill>
                  <a:schemeClr val="tx1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scanf</a:t>
            </a:r>
            <a:r>
              <a:rPr lang="pt-BR" sz="3700" b="1" dirty="0">
                <a:solidFill>
                  <a:schemeClr val="tx1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 para entrada de dados</a:t>
            </a:r>
          </a:p>
          <a:p>
            <a:pPr algn="l"/>
            <a:r>
              <a:rPr lang="pt-BR" sz="3700" b="1" dirty="0">
                <a:solidFill>
                  <a:schemeClr val="tx1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Além disso, há validações simples, como verificar se o sistema está cheio ou vazio antes de executar certas operações.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39260922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888D37B-88A2-6D79-EC28-B202D6216669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1058664" y="1344097"/>
            <a:ext cx="6218594" cy="4041775"/>
          </a:xfrm>
        </p:spPr>
        <p:txBody>
          <a:bodyPr>
            <a:normAutofit/>
          </a:bodyPr>
          <a:lstStyle/>
          <a:p>
            <a:r>
              <a:rPr lang="pt-BR" sz="1400" b="1" dirty="0">
                <a:solidFill>
                  <a:schemeClr val="tx1"/>
                </a:solidFill>
              </a:rPr>
              <a:t>Conclui-se que o sistema de cadastro de carros é um exemplo prático e eficiente para compreender conceitos básicos da programação em C. Ele demonstra como organizar dados, interagir com o usuário e implementar funcionalidades essenciais de um sistema real.</a:t>
            </a:r>
          </a:p>
          <a:p>
            <a:r>
              <a:rPr lang="pt-BR" sz="1400" b="1" dirty="0">
                <a:solidFill>
                  <a:schemeClr val="tx1"/>
                </a:solidFill>
              </a:rPr>
              <a:t>Apesar de simples, o programa pode ser melhorado com a inclusão de novas funcionalidades, como exclusão de registros, uso de arquivos para armazenamento permanente e interfaces mais amigáveis.</a:t>
            </a:r>
          </a:p>
          <a:p>
            <a:r>
              <a:rPr lang="pt-BR" sz="1400" b="1" dirty="0">
                <a:solidFill>
                  <a:schemeClr val="tx1"/>
                </a:solidFill>
              </a:rPr>
              <a:t>Esse tipo de projeto é fundamental para o aprendizado, pois desenvolve o raciocínio lógico e prepara o estudante para sistemas mais complexos no futuro.</a:t>
            </a:r>
          </a:p>
          <a:p>
            <a:endParaRPr lang="pt-BR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58A4D9E8-BBA2-7A48-A25F-A4A034A50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093" y="0"/>
            <a:ext cx="7551737" cy="1101725"/>
          </a:xfrm>
          <a:prstGeom prst="flowChartDocument">
            <a:avLst/>
          </a:prstGeom>
          <a:solidFill>
            <a:srgbClr val="F00E3E"/>
          </a:solidFill>
        </p:spPr>
        <p:txBody>
          <a:bodyPr>
            <a:norm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Conclusão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411730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D05AE6FE-05FF-4CD2-8F24-6343C7C0C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093" y="0"/>
            <a:ext cx="7551737" cy="1101725"/>
          </a:xfrm>
          <a:prstGeom prst="flowChartDocument">
            <a:avLst/>
          </a:prstGeom>
          <a:solidFill>
            <a:srgbClr val="F00E3E"/>
          </a:solidFill>
        </p:spPr>
        <p:txBody>
          <a:bodyPr>
            <a:normAutofit/>
          </a:bodyPr>
          <a:lstStyle/>
          <a:p>
            <a:pPr algn="ctr"/>
            <a:r>
              <a:rPr lang="pt-BR" dirty="0" err="1">
                <a:solidFill>
                  <a:schemeClr val="bg1"/>
                </a:solidFill>
              </a:rPr>
              <a:t>Codigo</a:t>
            </a:r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8" name="Objeto 7">
            <a:extLst>
              <a:ext uri="{FF2B5EF4-FFF2-40B4-BE49-F238E27FC236}">
                <a16:creationId xmlns:a16="http://schemas.microsoft.com/office/drawing/2014/main" id="{D12ECA24-6279-E5A9-51D5-700214F1BB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0754845"/>
              </p:ext>
            </p:extLst>
          </p:nvPr>
        </p:nvGraphicFramePr>
        <p:xfrm>
          <a:off x="3782198" y="1931893"/>
          <a:ext cx="7715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bjeto de Shell de Gerenciador" showAsIcon="1" r:id="rId2" imgW="771466" imgH="514290" progId="Package">
                  <p:embed/>
                </p:oleObj>
              </mc:Choice>
              <mc:Fallback>
                <p:oleObj name="Objeto de Shell de Gerenciador" showAsIcon="1" r:id="rId2" imgW="771466" imgH="514290" progId="Package">
                  <p:embed/>
                  <p:pic>
                    <p:nvPicPr>
                      <p:cNvPr id="2" name="Objeto 1">
                        <a:extLst>
                          <a:ext uri="{FF2B5EF4-FFF2-40B4-BE49-F238E27FC236}">
                            <a16:creationId xmlns:a16="http://schemas.microsoft.com/office/drawing/2014/main" id="{168BF9CA-50F5-D2AA-0DE8-F3AECEF410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782198" y="1931893"/>
                        <a:ext cx="771525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00508699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87C63-F2EC-3C46-F573-CE240809155A}"/>
              </a:ext>
            </a:extLst>
          </p:cNvPr>
          <p:cNvSpPr txBox="1">
            <a:spLocks/>
          </p:cNvSpPr>
          <p:nvPr/>
        </p:nvSpPr>
        <p:spPr>
          <a:xfrm>
            <a:off x="722900" y="4029915"/>
            <a:ext cx="7729985" cy="722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defTabSz="265175" hangingPunct="1">
              <a:defRPr sz="2262">
                <a:solidFill>
                  <a:srgbClr val="FFFFFF"/>
                </a:solidFill>
              </a:defRPr>
            </a:pPr>
            <a:r>
              <a:rPr lang="pt-BR" sz="3200" b="1" dirty="0">
                <a:solidFill>
                  <a:schemeClr val="bg1"/>
                </a:solidFill>
              </a:rPr>
              <a:t>Obrigado!!! 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Personalizada 2">
      <a:majorFont>
        <a:latin typeface="Big Shoulders Display Black"/>
        <a:ea typeface="Calibri"/>
        <a:cs typeface="Calibri"/>
      </a:majorFont>
      <a:minorFont>
        <a:latin typeface="Georam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76404741E2094A9BA269B80256B025" ma:contentTypeVersion="1" ma:contentTypeDescription="Create a new document." ma:contentTypeScope="" ma:versionID="ccb2f2dce2b8093231130318b7db513d">
  <xsd:schema xmlns:xsd="http://www.w3.org/2001/XMLSchema" xmlns:xs="http://www.w3.org/2001/XMLSchema" xmlns:p="http://schemas.microsoft.com/office/2006/metadata/properties" xmlns:ns3="e8fc0f44-5988-4b94-8e0f-9761548ddd81" targetNamespace="http://schemas.microsoft.com/office/2006/metadata/properties" ma:root="true" ma:fieldsID="23cae1ccbe9b30f38f6684cbc2962094" ns3:_="">
    <xsd:import namespace="e8fc0f44-5988-4b94-8e0f-9761548ddd81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fc0f44-5988-4b94-8e0f-9761548ddd81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61A30F4-F1EA-4F98-A164-76D337EE5565}">
  <ds:schemaRefs>
    <ds:schemaRef ds:uri="http://purl.org/dc/elements/1.1/"/>
    <ds:schemaRef ds:uri="e8fc0f44-5988-4b94-8e0f-9761548ddd81"/>
    <ds:schemaRef ds:uri="http://www.w3.org/XML/1998/namespac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25CDB8D3-8D3E-4709-87C5-2CE08DD174C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8fc0f44-5988-4b94-8e0f-9761548ddd8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ED456AD-07D2-43E3-AD57-2C904906666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1395</TotalTime>
  <Words>472</Words>
  <Application>Microsoft Office PowerPoint</Application>
  <PresentationFormat>Apresentação na tela (16:9)</PresentationFormat>
  <Paragraphs>31</Paragraphs>
  <Slides>7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Abadi</vt:lpstr>
      <vt:lpstr>Arial</vt:lpstr>
      <vt:lpstr>Big Shoulders Display Black</vt:lpstr>
      <vt:lpstr>Calibri</vt:lpstr>
      <vt:lpstr>Office Theme</vt:lpstr>
      <vt:lpstr>Pacote</vt:lpstr>
      <vt:lpstr>Apresentação do PowerPoint</vt:lpstr>
      <vt:lpstr>INTRODUÇÃO</vt:lpstr>
      <vt:lpstr>Desenvolvimento</vt:lpstr>
      <vt:lpstr>Apresentação do PowerPoint</vt:lpstr>
      <vt:lpstr>Conclusão</vt:lpstr>
      <vt:lpstr>Codigo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NONONONONO NONONONONO NONONONO</dc:title>
  <dc:creator>Anderson Carvalho dos  Santos</dc:creator>
  <cp:lastModifiedBy>MAIRO SOUZA DA CRUZ</cp:lastModifiedBy>
  <cp:revision>109</cp:revision>
  <dcterms:modified xsi:type="dcterms:W3CDTF">2026-06-06T21:35:20Z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0x0101000176404741E2094A9BA269B80256B025</vt:lpwstr>
  </property>
</Properties>
</file>